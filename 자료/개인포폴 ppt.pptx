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182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0058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단기자금시장
</a:t>
            </a:r>
            <a:pPr indent="0" marL="0">
              <a:buNone/>
            </a:pPr>
            <a:r>
              <a:rPr lang="en-US" sz="6400" b="1" spc="-100" kern="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시장감지 프로젝트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502920" y="3657600"/>
            <a:ext cx="8229600" cy="914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22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4059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송윤태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3822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560320" y="40599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2024.01 - 2024.03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3822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846320" y="4078224"/>
            <a:ext cx="59436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07822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77256" y="4078224"/>
            <a:ext cx="658368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77256" y="407822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72200" y="4078224"/>
            <a:ext cx="621792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407822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30568" y="4078224"/>
            <a:ext cx="621792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407822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488936" y="4078224"/>
            <a:ext cx="77724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40782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302752" y="4078224"/>
            <a:ext cx="73152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407822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Chart.js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6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 계기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spc="-300" kern="0" dirty="0">
                <a:solidFill>
                  <a:srgbClr val="26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MOTIVE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레고랜드 사태는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방아쇠였을 뿐인가?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657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데이터와 전처리 - 1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Pipeline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8229600" cy="914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640080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25420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Seibro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KSD 증권정보포털 원천 데이터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673352"/>
            <a:ext cx="91440" cy="914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1371600"/>
            <a:ext cx="640080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84832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084832" y="25420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셀레니움 수집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4832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CP, ABCP, ABSTB 자동 크롤링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12464" y="1673352"/>
            <a:ext cx="91440" cy="914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1371600"/>
            <a:ext cx="640080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03904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03904" y="25420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지표화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03904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Rollover 신용도, MSI, 만기구조 가공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31536" y="1673352"/>
            <a:ext cx="91440" cy="914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1371600"/>
            <a:ext cx="640080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22976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522976" y="25420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 피처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22976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학습용 기초 지표 및 특성 데이터 추출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50608" y="1673352"/>
            <a:ext cx="91440" cy="9144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4968" y="1371600"/>
            <a:ext cx="640080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42048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242048" y="25420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저장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42048" y="29260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 데이터셋 DB 영구 저장 관리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657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데이터와 전처리 - 2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Detail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 CRAWLER ENGINE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023360" cy="310896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4023360" cy="347472"/>
          </a:xfrm>
          <a:prstGeom prst="rect">
            <a:avLst/>
          </a:prstGeom>
          <a:solidFill>
            <a:srgbClr val="262626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19656"/>
            <a:ext cx="91440" cy="9144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819656"/>
            <a:ext cx="91440" cy="9144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819656"/>
            <a:ext cx="91440" cy="9144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Seibro balance crawler.py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make_driver(download_dir):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opts = Options()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opts.add_experimental_option(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"prefs", {...}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drv = webdriver.Chrome(options=opts)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drv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402336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60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금융투자협회 및 SEIBro 동적 페이지 수집 엔진. 탐지 우회 및 대량 엑셀 자동 다운로드 로직 구현.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1371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 LOGIC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09160" y="1691640"/>
            <a:ext cx="4023360" cy="310896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691640"/>
            <a:ext cx="4023360" cy="347472"/>
          </a:xfrm>
          <a:prstGeom prst="rect">
            <a:avLst/>
          </a:prstGeom>
          <a:solidFill>
            <a:srgbClr val="262626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819656"/>
            <a:ext cx="91440" cy="9144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0912" y="1819656"/>
            <a:ext cx="91440" cy="9144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5504" y="1819656"/>
            <a:ext cx="91440" cy="9144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monthly_preprocess_automation.py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21031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tenor_bucket(days):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d &lt;= 7: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"ultra"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8 &lt;= d &lt;= 30: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"short"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d &gt;= 366: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"xlong"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4114800"/>
            <a:ext cx="402336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160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데이터를 분석 지표로 변환. 발행일 대비 만기일을 계산하여 6단계 만기구조 버킷으로 정규화.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657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데이터와 전처리 - 3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Storage &amp; Persistence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480560" cy="347472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Database Schema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4206240" cy="777240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20240"/>
            <a:ext cx="4206240" cy="274320"/>
          </a:xfrm>
          <a:prstGeom prst="rect">
            <a:avLst/>
          </a:prstGeom>
          <a:solidFill>
            <a:srgbClr val="262626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3852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cp_balance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93852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yyyymm (PK) · balance_amt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4206240" cy="777240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834640"/>
            <a:ext cx="4206240" cy="274320"/>
          </a:xfrm>
          <a:prstGeom prst="rect">
            <a:avLst/>
          </a:prstGeom>
          <a:solidFill>
            <a:srgbClr val="262626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5292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cp_tenor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85292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yyyymm (PK) · ultra / short / mid / main / long / xlong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4206240" cy="777240"/>
          </a:xfrm>
          <a:prstGeom prst="rect">
            <a:avLst/>
          </a:prstGeom>
          <a:solidFill>
            <a:srgbClr val="000000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49040"/>
            <a:ext cx="4206240" cy="274320"/>
          </a:xfrm>
          <a:prstGeom prst="rect">
            <a:avLst/>
          </a:prstGeom>
          <a:solidFill>
            <a:srgbClr val="262626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6732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cp_grade_iss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76732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yyyymm (PK) · top / high / mid / low / dist...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0" y="1371600"/>
            <a:ext cx="45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4630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Persistence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257800" y="22402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 REPLACE(Upsert) 로직을 통해 시계열 데이터의 무결성을 확보하고 실시간 대시보드 연동 효율을 극대화함.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657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초기 실패: MSI4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MSI4: 롤오버 지표 중심 접근의 한계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846320" cy="347472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Rollover Analysis MSI4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6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</a:t>
            </a:r>
            <a:endParaRPr lang="en-US" sz="6000" dirty="0"/>
          </a:p>
        </p:txBody>
      </p:sp>
      <p:pic>
        <p:nvPicPr>
          <p:cNvPr id="8" name="Image 0" descr="/mnt/user-data/uploads/rollover_코로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2148840" cy="1188720"/>
          </a:xfrm>
          <a:prstGeom prst="rect">
            <a:avLst/>
          </a:prstGeom>
        </p:spPr>
      </p:pic>
      <p:pic>
        <p:nvPicPr>
          <p:cNvPr id="9" name="Image 1" descr="/mnt/user-data/uploads/rollover_레고랜드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920240"/>
            <a:ext cx="2148840" cy="1188720"/>
          </a:xfrm>
          <a:prstGeom prst="rect">
            <a:avLst/>
          </a:prstGeom>
        </p:spPr>
      </p:pic>
      <p:pic>
        <p:nvPicPr>
          <p:cNvPr id="10" name="Image 2" descr="/mnt/user-data/uploads/rollover_새마을금고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2148840" cy="1188720"/>
          </a:xfrm>
          <a:prstGeom prst="rect">
            <a:avLst/>
          </a:prstGeom>
        </p:spPr>
      </p:pic>
      <p:pic>
        <p:nvPicPr>
          <p:cNvPr id="11" name="Image 3" descr="/mnt/user-data/uploads/rollover_태영건설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291840"/>
            <a:ext cx="2148840" cy="11887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068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Approach Fail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5440680" y="1874520"/>
            <a:ext cx="33832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440680" y="2011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5440680" y="2240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버전은 차환 압력(Rollover)을 핵심 위험 신호로 판단하고 지표화에 집중함.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440680" y="2834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5440680" y="3063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레고랜드 사태 등 실제 위기 구간에서도 롤오버 지표는 비정상적으로 완만한 흐름을 유지함.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40680" y="36576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5440680" y="3886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지표 중심 접근의 한계를 확인. 시장 전체의 스트레스(MSI)를 통합 산출하는 방법론 필요.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440680" y="4434840"/>
            <a:ext cx="3657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577840" y="44622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"실제 시장 스트레스는 차환만으로 설명되지 않았다."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3657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MSI 5 재설계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MSI 5 재설계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차환지표에서 복합 스트레스 지표로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51760" cy="274320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 5는 잔액비중 변화, 신용등급, 만기구조 핵심지표로의 이동을 모두 반영하여 설계했다.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103120"/>
            <a:ext cx="2651760" cy="274320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발행 총량보다 시장 내부 구성의 변화를 리스크 포착의 더 중요한 지표로 간주했다.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651760" cy="274320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834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불가능한 시장 환경에서 과거와 현재의 상황을 정밀 분석하여 판단을 돕는 실질적 보조 수단을 목표로 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657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위험 전 전조지표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레고랜드 사태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위기 발생 전 시장은 이미 말하고 있었다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평온기 평균은 슬라이딩 윈도우 방식으로 산출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160520" cy="1627632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pic>
        <p:nvPicPr>
          <p:cNvPr id="8" name="Image 0" descr="/mnt/user-data/uploads/legoland_tenor_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700784"/>
            <a:ext cx="2103120" cy="1481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51760" y="17190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만기구조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651760" y="1993392"/>
            <a:ext cx="169164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199339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장기화 경보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651760" y="230428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평온기 평균 44%이나 사건 5개월 전부터 이미 25% 선으로 하락. CP만 유독 만기가 길어지는 이상 패턴 포착.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627632"/>
            <a:ext cx="4160520" cy="1627632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pic>
        <p:nvPicPr>
          <p:cNvPr id="14" name="Image 1" descr="/mnt/user-data/uploads/legoland_tenor_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700784"/>
            <a:ext cx="2103120" cy="1481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7190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AB단기사채 만기구조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040880" y="1993392"/>
            <a:ext cx="169164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0" y="199339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단기화 경보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040880" y="230428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평온기 평균 38% 수준. 원래 단기 비중이 높은 시장이나 평균 초과 유지. T-2부터 신호 강화.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5760" y="3383280"/>
            <a:ext cx="4160520" cy="1627632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pic>
        <p:nvPicPr>
          <p:cNvPr id="20" name="Image 2" descr="/mnt/user-data/uploads/legoland_tenor_a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456432"/>
            <a:ext cx="2103120" cy="1481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51760" y="3474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ABCP 만기구조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2651760" y="3749040"/>
            <a:ext cx="169164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651760" y="37490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단기화 경보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2651760" y="4059936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평온기 12~13% 수준. 부동산 담보 특성상 변동 적으나 이미 평균 이탈. 사건 후 장기→단기 구조 전환.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754880" y="3383280"/>
            <a:ext cx="4160520" cy="1627632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solid"/>
          </a:ln>
        </p:spPr>
      </p:sp>
      <p:pic>
        <p:nvPicPr>
          <p:cNvPr id="26" name="Image 3" descr="/mnt/user-data/uploads/legoland_C_cro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456432"/>
            <a:ext cx="2103120" cy="14813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40880" y="3474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신용등급 크로스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7040880" y="3749040"/>
            <a:ext cx="169164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40880" y="37490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AAA↑ AA↓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7040880" y="4059936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쏠림 + AA 이탈. 사건 전 이미 교차 발생. 교차 시점이 핵심 전조 신호.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단기자금시장 시장감지 프로젝트</dc:title>
  <dc:subject>PptxGenJS Presentation</dc:subject>
  <dc:creator>PptxGenJS</dc:creator>
  <cp:lastModifiedBy>PptxGenJS</cp:lastModifiedBy>
  <cp:revision>1</cp:revision>
  <dcterms:created xsi:type="dcterms:W3CDTF">2026-03-23T07:25:07Z</dcterms:created>
  <dcterms:modified xsi:type="dcterms:W3CDTF">2026-03-23T07:25:07Z</dcterms:modified>
</cp:coreProperties>
</file>